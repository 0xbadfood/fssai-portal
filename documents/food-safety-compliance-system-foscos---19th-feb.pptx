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61" r:id="rId4"/>
    <p:sldId id="262" r:id="rId5"/>
    <p:sldId id="279" r:id="rId6"/>
    <p:sldId id="263" r:id="rId7"/>
    <p:sldId id="265" r:id="rId8"/>
    <p:sldId id="264" r:id="rId9"/>
    <p:sldId id="268" r:id="rId10"/>
    <p:sldId id="258" r:id="rId11"/>
    <p:sldId id="273" r:id="rId12"/>
    <p:sldId id="275" r:id="rId13"/>
    <p:sldId id="259" r:id="rId14"/>
    <p:sldId id="278" r:id="rId15"/>
    <p:sldId id="271" r:id="rId16"/>
    <p:sldId id="270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60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533400" y="187041"/>
            <a:ext cx="807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ldNum" idx="12"/>
          </p:nvPr>
        </p:nvSpPr>
        <p:spPr>
          <a:xfrm>
            <a:off x="7086600" y="6477000"/>
            <a:ext cx="152704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086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3C76647-3550-4703-88DE-856C60940E47}" type="datetimeFigureOut">
              <a:rPr lang="en-US" smtClean="0"/>
              <a:t>21-Feb-20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64326AC3-61A6-4A7B-82BF-52C8B78CC2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foscosfeedback.fssai@gmail.com" TargetMode="External"/><Relationship Id="rId2" Type="http://schemas.openxmlformats.org/officeDocument/2006/relationships/hyperlink" Target="https://fcstraining.fssai.gov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oscos-helpline@fssai.gov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685800"/>
            <a:ext cx="6777318" cy="2433919"/>
          </a:xfrm>
        </p:spPr>
        <p:txBody>
          <a:bodyPr/>
          <a:lstStyle/>
          <a:p>
            <a:r>
              <a:rPr lang="en-US" dirty="0" smtClean="0"/>
              <a:t>Food Safety Compliance System (</a:t>
            </a:r>
            <a:r>
              <a:rPr lang="en-US" dirty="0" err="1" smtClean="0"/>
              <a:t>FoSCoS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990600"/>
          </a:xfrm>
        </p:spPr>
        <p:txBody>
          <a:bodyPr/>
          <a:lstStyle/>
          <a:p>
            <a:r>
              <a:rPr lang="en-US" dirty="0" smtClean="0"/>
              <a:t>Major Changes and Migration Strategy</a:t>
            </a:r>
          </a:p>
          <a:p>
            <a:r>
              <a:rPr lang="en-US" dirty="0" smtClean="0"/>
              <a:t>Workshop (</a:t>
            </a:r>
            <a:r>
              <a:rPr lang="en-US" smtClean="0"/>
              <a:t>19</a:t>
            </a:r>
            <a:r>
              <a:rPr lang="en-US" baseline="30000" smtClean="0"/>
              <a:t>th</a:t>
            </a:r>
            <a:r>
              <a:rPr lang="en-US" smtClean="0"/>
              <a:t> February 2020)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93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458200" cy="4419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Simplified Login page for petty FBOs. (Registration purpose)</a:t>
            </a:r>
            <a:endParaRPr lang="en-US" b="0" dirty="0" smtClean="0">
              <a:effectLst/>
            </a:endParaRPr>
          </a:p>
          <a:p>
            <a:pPr algn="just"/>
            <a:r>
              <a:rPr lang="en-US" dirty="0" smtClean="0"/>
              <a:t>Addition </a:t>
            </a:r>
            <a:r>
              <a:rPr lang="en-US" dirty="0"/>
              <a:t>of New </a:t>
            </a:r>
            <a:r>
              <a:rPr lang="en-US" dirty="0" err="1"/>
              <a:t>KoBs</a:t>
            </a:r>
            <a:r>
              <a:rPr lang="en-US" dirty="0"/>
              <a:t> </a:t>
            </a:r>
            <a:endParaRPr lang="en-US" dirty="0" smtClean="0"/>
          </a:p>
          <a:p>
            <a:pPr lvl="1" algn="just"/>
            <a:r>
              <a:rPr lang="en-US" dirty="0" smtClean="0"/>
              <a:t>Food </a:t>
            </a:r>
            <a:r>
              <a:rPr lang="en-US" dirty="0"/>
              <a:t>Supplements/</a:t>
            </a:r>
            <a:r>
              <a:rPr lang="en-US" dirty="0" err="1"/>
              <a:t>Nutraceuticals</a:t>
            </a:r>
            <a:r>
              <a:rPr lang="en-US" dirty="0"/>
              <a:t>, </a:t>
            </a:r>
            <a:endParaRPr lang="en-US" dirty="0" smtClean="0"/>
          </a:p>
          <a:p>
            <a:pPr lvl="1" algn="just"/>
            <a:r>
              <a:rPr lang="en-US" dirty="0" smtClean="0"/>
              <a:t>Substances </a:t>
            </a:r>
            <a:r>
              <a:rPr lang="en-US" dirty="0"/>
              <a:t>Added to Food </a:t>
            </a:r>
            <a:endParaRPr lang="en-US" dirty="0" smtClean="0"/>
          </a:p>
          <a:p>
            <a:pPr lvl="1" algn="just"/>
            <a:r>
              <a:rPr lang="en-US" dirty="0" smtClean="0"/>
              <a:t>Novel </a:t>
            </a:r>
            <a:r>
              <a:rPr lang="en-US" dirty="0"/>
              <a:t>food for </a:t>
            </a:r>
            <a:r>
              <a:rPr lang="en-US" dirty="0" smtClean="0"/>
              <a:t>manufacturers</a:t>
            </a:r>
          </a:p>
          <a:p>
            <a:pPr algn="just"/>
            <a:r>
              <a:rPr lang="en-US" dirty="0" smtClean="0"/>
              <a:t>Selection of </a:t>
            </a:r>
            <a:r>
              <a:rPr lang="en-US" dirty="0" err="1" smtClean="0"/>
              <a:t>Standardised</a:t>
            </a:r>
            <a:r>
              <a:rPr lang="en-US" dirty="0" smtClean="0"/>
              <a:t> Products under Manufacturing </a:t>
            </a:r>
            <a:r>
              <a:rPr lang="en-US" dirty="0" err="1" smtClean="0"/>
              <a:t>KoB</a:t>
            </a:r>
            <a:endParaRPr lang="en-US" dirty="0" smtClean="0"/>
          </a:p>
          <a:p>
            <a:pPr algn="just"/>
            <a:r>
              <a:rPr lang="en-US" dirty="0" smtClean="0"/>
              <a:t>Modification </a:t>
            </a:r>
            <a:r>
              <a:rPr lang="en-US" dirty="0"/>
              <a:t>of License for existing Licensed FBOs under Manufacturing </a:t>
            </a:r>
            <a:r>
              <a:rPr lang="en-US" dirty="0" err="1" smtClean="0"/>
              <a:t>KoB</a:t>
            </a:r>
            <a:endParaRPr lang="en-US" dirty="0"/>
          </a:p>
          <a:p>
            <a:pPr algn="just"/>
            <a:r>
              <a:rPr lang="en-US" dirty="0" smtClean="0"/>
              <a:t>Provision </a:t>
            </a:r>
            <a:r>
              <a:rPr lang="en-US" dirty="0"/>
              <a:t>of capturing GST, PAN and CIN number is added in license application. (non-mandatory at present</a:t>
            </a:r>
            <a:r>
              <a:rPr lang="en-US" dirty="0" smtClean="0"/>
              <a:t>)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Provision for Capturing FSM ID/</a:t>
            </a:r>
            <a:r>
              <a:rPr lang="en-US" dirty="0" err="1">
                <a:solidFill>
                  <a:prstClr val="black"/>
                </a:solidFill>
              </a:rPr>
              <a:t>FoSTaC</a:t>
            </a:r>
            <a:r>
              <a:rPr lang="en-US" dirty="0">
                <a:solidFill>
                  <a:prstClr val="black"/>
                </a:solidFill>
              </a:rPr>
              <a:t> Certificate number/Head </a:t>
            </a:r>
            <a:r>
              <a:rPr lang="en-US" dirty="0" smtClean="0">
                <a:solidFill>
                  <a:prstClr val="black"/>
                </a:solidFill>
              </a:rPr>
              <a:t>Office in Form B</a:t>
            </a:r>
            <a:endParaRPr lang="en-US" dirty="0">
              <a:solidFill>
                <a:prstClr val="black"/>
              </a:solidFill>
            </a:endParaRPr>
          </a:p>
          <a:p>
            <a:pPr algn="just"/>
            <a:r>
              <a:rPr lang="en-US" dirty="0" err="1" smtClean="0"/>
              <a:t>KoB</a:t>
            </a:r>
            <a:r>
              <a:rPr lang="en-US" dirty="0"/>
              <a:t>-</a:t>
            </a:r>
            <a:r>
              <a:rPr lang="en-US" dirty="0" smtClean="0"/>
              <a:t>wise documents. Declaration based documents are converted to Tick based.   </a:t>
            </a:r>
            <a:endParaRPr lang="en-US" b="0" dirty="0" smtClean="0">
              <a:effectLst/>
            </a:endParaRPr>
          </a:p>
          <a:p>
            <a:pPr algn="just"/>
            <a:r>
              <a:rPr lang="en-US" dirty="0" smtClean="0"/>
              <a:t>Instant Availability of Inspection </a:t>
            </a:r>
            <a:r>
              <a:rPr lang="en-US" dirty="0"/>
              <a:t>Reports </a:t>
            </a:r>
            <a:r>
              <a:rPr lang="en-US" dirty="0" smtClean="0"/>
              <a:t>to FBO</a:t>
            </a:r>
            <a:endParaRPr lang="en-US" b="0" dirty="0" smtClean="0">
              <a:effectLst/>
            </a:endParaRPr>
          </a:p>
          <a:p>
            <a:pPr algn="just"/>
            <a:r>
              <a:rPr lang="en-US" dirty="0" smtClean="0"/>
              <a:t>Pan-India Uniform Format of Licenses and </a:t>
            </a:r>
            <a:r>
              <a:rPr lang="en-US" dirty="0"/>
              <a:t>Registration </a:t>
            </a:r>
            <a:r>
              <a:rPr lang="en-US" dirty="0" smtClean="0"/>
              <a:t>Certificates.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>
            <a:noAutofit/>
          </a:bodyPr>
          <a:lstStyle/>
          <a:p>
            <a:r>
              <a:rPr lang="en-US" sz="3600" dirty="0" smtClean="0"/>
              <a:t>Major Changes in </a:t>
            </a:r>
            <a:br>
              <a:rPr lang="en-US" sz="3600" dirty="0" smtClean="0"/>
            </a:br>
            <a:r>
              <a:rPr lang="en-US" sz="3600" dirty="0" smtClean="0"/>
              <a:t>Filing of Application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4450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41454"/>
            <a:ext cx="8458200" cy="550849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Login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34520"/>
            <a:ext cx="8458200" cy="431868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/>
              <a:t>Addition of New </a:t>
            </a:r>
            <a:r>
              <a:rPr lang="en-US" sz="3600" dirty="0" err="1"/>
              <a:t>KoBs</a:t>
            </a:r>
            <a:r>
              <a:rPr lang="en-US" sz="3600" dirty="0"/>
              <a:t> – under Manufacturing Group Head</a:t>
            </a:r>
          </a:p>
        </p:txBody>
      </p:sp>
    </p:spTree>
    <p:extLst>
      <p:ext uri="{BB962C8B-B14F-4D97-AF65-F5344CB8AC3E}">
        <p14:creationId xmlns:p14="http://schemas.microsoft.com/office/powerpoint/2010/main" val="21955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0" y="2247900"/>
            <a:ext cx="7744809" cy="40767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3600" dirty="0"/>
              <a:t>Selection of </a:t>
            </a:r>
            <a:r>
              <a:rPr lang="en-US" sz="3600" dirty="0" err="1"/>
              <a:t>Standardised</a:t>
            </a:r>
            <a:r>
              <a:rPr lang="en-US" sz="3600" dirty="0"/>
              <a:t> </a:t>
            </a:r>
            <a:r>
              <a:rPr lang="en-US" sz="3600" dirty="0" smtClean="0"/>
              <a:t>Products for Manufacturers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1199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4" y="2677319"/>
            <a:ext cx="7968015" cy="311388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3200" dirty="0"/>
              <a:t>Modification of License for existing Licensed FBOs under Manufacturing </a:t>
            </a:r>
            <a:r>
              <a:rPr lang="en-US" sz="3200" dirty="0" err="1"/>
              <a:t>KoB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9936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70308"/>
            <a:ext cx="8229600" cy="392569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534400" cy="1143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Capturing GST, PAN and CIN number in license application. (Non-mandatory at present)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514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47900"/>
            <a:ext cx="8229600" cy="41529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Autofit/>
          </a:bodyPr>
          <a:lstStyle/>
          <a:p>
            <a:pPr algn="just"/>
            <a:r>
              <a:rPr lang="en-US" sz="3600" dirty="0" err="1"/>
              <a:t>KoB</a:t>
            </a:r>
            <a:r>
              <a:rPr lang="en-US" sz="3600" dirty="0"/>
              <a:t> wise documents</a:t>
            </a:r>
            <a:r>
              <a:rPr lang="en-US" sz="3600" dirty="0" smtClean="0"/>
              <a:t>. Declaration </a:t>
            </a:r>
            <a:r>
              <a:rPr lang="en-US" sz="3600" dirty="0"/>
              <a:t>based documents are converted to Tick based.</a:t>
            </a:r>
          </a:p>
        </p:txBody>
      </p:sp>
    </p:spTree>
    <p:extLst>
      <p:ext uri="{BB962C8B-B14F-4D97-AF65-F5344CB8AC3E}">
        <p14:creationId xmlns:p14="http://schemas.microsoft.com/office/powerpoint/2010/main" val="217979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133600"/>
            <a:ext cx="8686800" cy="217255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063753" cy="1319606"/>
          </a:xfrm>
        </p:spPr>
        <p:txBody>
          <a:bodyPr>
            <a:noAutofit/>
          </a:bodyPr>
          <a:lstStyle/>
          <a:p>
            <a:pPr lvl="0" algn="just"/>
            <a:r>
              <a:rPr lang="en-US" sz="3600" dirty="0" smtClean="0"/>
              <a:t>Capturing </a:t>
            </a:r>
            <a:r>
              <a:rPr lang="en-US" sz="3600" dirty="0"/>
              <a:t>FSM ID/</a:t>
            </a:r>
            <a:r>
              <a:rPr lang="en-US" sz="3600" dirty="0" err="1"/>
              <a:t>FoSTaC</a:t>
            </a:r>
            <a:r>
              <a:rPr lang="en-US" sz="3600" dirty="0"/>
              <a:t> Certificate number</a:t>
            </a:r>
            <a:r>
              <a:rPr lang="en-US" sz="3600" dirty="0" smtClean="0"/>
              <a:t>/ Head </a:t>
            </a:r>
            <a:r>
              <a:rPr lang="en-US" sz="3600" dirty="0"/>
              <a:t>Office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419600"/>
            <a:ext cx="8686800" cy="216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5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534400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Dashboard reflecting pendency at different stages</a:t>
            </a:r>
            <a:endParaRPr lang="en-US" dirty="0"/>
          </a:p>
          <a:p>
            <a:r>
              <a:rPr lang="en-US" dirty="0" smtClean="0"/>
              <a:t>Integration of </a:t>
            </a:r>
            <a:r>
              <a:rPr lang="en-US" dirty="0" err="1" smtClean="0"/>
              <a:t>FoSCoRIS</a:t>
            </a:r>
            <a:r>
              <a:rPr lang="en-US" dirty="0" smtClean="0"/>
              <a:t> with </a:t>
            </a:r>
            <a:r>
              <a:rPr lang="en-US" dirty="0" err="1" smtClean="0"/>
              <a:t>FoSCoS</a:t>
            </a:r>
            <a:endParaRPr lang="en-US" dirty="0"/>
          </a:p>
          <a:p>
            <a:r>
              <a:rPr lang="en-US" dirty="0" smtClean="0"/>
              <a:t>A comprehensive search tool limited to their area of jurisdiction. Reports can be fetched from the  tool and exported to excel.</a:t>
            </a:r>
          </a:p>
          <a:p>
            <a:r>
              <a:rPr lang="en-US" dirty="0" smtClean="0"/>
              <a:t>Licenses can be generated directly from Document and Inspection Scrutinisation page. Removal of License Generation bin.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Sequencing of applications for scrutinisation has been set as First in First Out (FIFO). </a:t>
            </a:r>
            <a:endParaRPr lang="en-US" b="0" dirty="0" smtClean="0"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304800"/>
            <a:ext cx="7756263" cy="10542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Major Changes in Processing of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83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47900"/>
            <a:ext cx="8382000" cy="387826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167206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Dashboard reflecting pendency at different stages</a:t>
            </a:r>
          </a:p>
        </p:txBody>
      </p:sp>
    </p:spTree>
    <p:extLst>
      <p:ext uri="{BB962C8B-B14F-4D97-AF65-F5344CB8AC3E}">
        <p14:creationId xmlns:p14="http://schemas.microsoft.com/office/powerpoint/2010/main" val="999443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" y="2389669"/>
            <a:ext cx="8808616" cy="408733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>
            <a:noAutofit/>
          </a:bodyPr>
          <a:lstStyle/>
          <a:p>
            <a:r>
              <a:rPr lang="en-US" sz="2800" dirty="0" smtClean="0"/>
              <a:t>Search Console. Reports can also be fetched from the  tool and exported to excel.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3929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8991600" cy="4419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In case of SL/Registration – Live applications with DO/FSO/FBO shall be moved to Stage 1</a:t>
            </a:r>
          </a:p>
          <a:p>
            <a:pPr algn="just"/>
            <a:r>
              <a:rPr lang="en-US" dirty="0" smtClean="0"/>
              <a:t>In case of CL – Live applications with DO/TO/FBO shall be moved to Stage 2</a:t>
            </a:r>
          </a:p>
          <a:p>
            <a:pPr algn="just"/>
            <a:r>
              <a:rPr lang="en-US" dirty="0" smtClean="0"/>
              <a:t>This also means that applications pending at ‘Generate License’ Stage will be transferred to Stage 1, thus requiring reprocessing from initial stage.</a:t>
            </a:r>
          </a:p>
          <a:p>
            <a:pPr algn="just"/>
            <a:r>
              <a:rPr lang="en-US" dirty="0" smtClean="0"/>
              <a:t>Manufacturing License Applications shall be reverted back to FBO for selection of products. </a:t>
            </a:r>
          </a:p>
          <a:p>
            <a:pPr algn="just"/>
            <a:r>
              <a:rPr lang="en-US" dirty="0" smtClean="0"/>
              <a:t>At present, around 60,000 pending applications in FLRS. Authorities shall take all necessary steps to clear the </a:t>
            </a:r>
            <a:r>
              <a:rPr lang="en-US" dirty="0" err="1" smtClean="0"/>
              <a:t>pendencies</a:t>
            </a:r>
            <a:r>
              <a:rPr lang="en-US" dirty="0" smtClean="0"/>
              <a:t>  to avoid reprocessing of applications in </a:t>
            </a:r>
            <a:r>
              <a:rPr lang="en-US" dirty="0" err="1" smtClean="0"/>
              <a:t>FoSCoS</a:t>
            </a:r>
            <a:r>
              <a:rPr lang="en-US" dirty="0" smtClean="0"/>
              <a:t>. </a:t>
            </a:r>
          </a:p>
          <a:p>
            <a:pPr algn="just"/>
            <a:r>
              <a:rPr lang="en-US" dirty="0" smtClean="0"/>
              <a:t>Applications pending with FBOs for more than 30 days are being rejected by system automatically. Long pending applications at DO/FSO end shall be rejected to </a:t>
            </a:r>
            <a:r>
              <a:rPr lang="en-US" dirty="0" err="1" smtClean="0"/>
              <a:t>minimise</a:t>
            </a:r>
            <a:r>
              <a:rPr lang="en-US" dirty="0" smtClean="0"/>
              <a:t> the count of pending applications. </a:t>
            </a:r>
          </a:p>
          <a:p>
            <a:pPr algn="just"/>
            <a:r>
              <a:rPr lang="en-US" dirty="0" smtClean="0"/>
              <a:t>Authorities shall avoid re-inspections of FBOs’ units whose application has been migrated to Stage-1.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90" y="622150"/>
            <a:ext cx="7756263" cy="1054250"/>
          </a:xfrm>
        </p:spPr>
        <p:txBody>
          <a:bodyPr/>
          <a:lstStyle/>
          <a:p>
            <a:r>
              <a:rPr lang="en-US" dirty="0" smtClean="0"/>
              <a:t>Migration Strategy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B1F42D-7AAE-424D-9982-309C3B90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574959"/>
          </a:xfrm>
        </p:spPr>
        <p:txBody>
          <a:bodyPr/>
          <a:lstStyle/>
          <a:p>
            <a:r>
              <a:rPr lang="en-US" sz="3200" b="1" dirty="0"/>
              <a:t>Licensing based on standardized product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9C5DA-326F-194F-8060-BB402177860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838200"/>
            <a:ext cx="8686800" cy="58674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93700" lvl="1" indent="-33020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Public consultation: Assam, HP, CLA- Chennai, AIFPA, CII, ITC, NRAI</a:t>
            </a:r>
          </a:p>
          <a:p>
            <a:pPr marL="393700" lvl="1" indent="-33020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Proposal: For Manufacturer: licensing based on standardized list of products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Standardized list of products: Rule level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Sub Rule OR individual product if – only FCS is different or sensitive product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For Manufacturers only- </a:t>
            </a:r>
            <a:r>
              <a:rPr lang="en-US" sz="1800" b="1" dirty="0">
                <a:latin typeface="+mj-lt"/>
              </a:rPr>
              <a:t>other </a:t>
            </a:r>
            <a:r>
              <a:rPr lang="en-US" sz="1800" b="1" dirty="0" err="1">
                <a:latin typeface="+mj-lt"/>
              </a:rPr>
              <a:t>KoB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still on broad category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New </a:t>
            </a:r>
            <a:r>
              <a:rPr lang="en-US" sz="1800" b="1" dirty="0">
                <a:latin typeface="+mj-lt"/>
              </a:rPr>
              <a:t>Category 100 </a:t>
            </a:r>
            <a:r>
              <a:rPr lang="en-US" sz="1800" dirty="0" smtClean="0">
                <a:latin typeface="+mj-lt"/>
              </a:rPr>
              <a:t>introduced for products whose Food Product Category is not available at present such as Pan Masala</a:t>
            </a:r>
            <a:endParaRPr lang="en-US" sz="1800" dirty="0">
              <a:latin typeface="+mj-lt"/>
            </a:endParaRP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Category 99- </a:t>
            </a:r>
            <a:r>
              <a:rPr lang="en-US" sz="1800" dirty="0">
                <a:latin typeface="+mj-lt"/>
              </a:rPr>
              <a:t>still on text box approach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Some concordance based on interpretations- consultation with Standards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+mj-lt"/>
              </a:rPr>
              <a:t>Existing State Licenses under Category </a:t>
            </a:r>
            <a:r>
              <a:rPr lang="en-US" sz="1800" b="1" dirty="0">
                <a:latin typeface="+mj-lt"/>
              </a:rPr>
              <a:t>15-16</a:t>
            </a:r>
            <a:r>
              <a:rPr lang="en-US" sz="1800" dirty="0" smtClean="0">
                <a:latin typeface="+mj-lt"/>
              </a:rPr>
              <a:t>: FBOs required to opt under correct </a:t>
            </a:r>
            <a:r>
              <a:rPr lang="en-US" sz="1800" dirty="0" err="1" smtClean="0">
                <a:latin typeface="+mj-lt"/>
              </a:rPr>
              <a:t>KoB</a:t>
            </a:r>
            <a:r>
              <a:rPr lang="en-US" sz="1800" dirty="0" smtClean="0">
                <a:latin typeface="+mj-lt"/>
              </a:rPr>
              <a:t> and FPC. FBO may also be needed to migrate from SL to CL due to products falling under proprietary food</a:t>
            </a:r>
            <a:endParaRPr lang="en-US" sz="1800" dirty="0">
              <a:latin typeface="+mj-lt"/>
            </a:endParaRP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Migration</a:t>
            </a:r>
          </a:p>
          <a:p>
            <a:pPr marL="693738" lvl="3" indent="-300038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Renewal- for a </a:t>
            </a:r>
            <a:r>
              <a:rPr lang="en-US" sz="1800" dirty="0" smtClean="0">
                <a:latin typeface="+mj-lt"/>
              </a:rPr>
              <a:t>year in case FBO does not migrate his products to </a:t>
            </a:r>
            <a:r>
              <a:rPr lang="en-US" sz="1800" dirty="0" err="1" smtClean="0">
                <a:latin typeface="+mj-lt"/>
              </a:rPr>
              <a:t>standardised</a:t>
            </a:r>
            <a:r>
              <a:rPr lang="en-US" sz="1800" dirty="0" smtClean="0">
                <a:latin typeface="+mj-lt"/>
              </a:rPr>
              <a:t> products selection based approach.</a:t>
            </a:r>
            <a:endParaRPr lang="en-US" sz="1800" dirty="0">
              <a:latin typeface="+mj-lt"/>
            </a:endParaRPr>
          </a:p>
          <a:p>
            <a:pPr marL="693738" lvl="3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Modification without payment of fee: might take new products also</a:t>
            </a:r>
          </a:p>
          <a:p>
            <a:pPr marL="693738" lvl="2" indent="-300038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Cheat Codes closure- some resistance expected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616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09800"/>
            <a:ext cx="8839200" cy="4343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Going Live with UT of </a:t>
            </a:r>
            <a:r>
              <a:rPr lang="en-US" dirty="0" err="1" smtClean="0"/>
              <a:t>Dadar</a:t>
            </a:r>
            <a:r>
              <a:rPr lang="en-US" dirty="0" smtClean="0"/>
              <a:t> and Nagar Haveli and Daman and Diu.</a:t>
            </a:r>
          </a:p>
          <a:p>
            <a:r>
              <a:rPr lang="en-US" dirty="0" smtClean="0"/>
              <a:t>Probable States/UTs in second round – Maharashtra, Karnataka, Delhi, Goa and Chandigarh</a:t>
            </a:r>
          </a:p>
          <a:p>
            <a:r>
              <a:rPr lang="en-US" dirty="0" smtClean="0"/>
              <a:t>Pan-India launch with all States/UTs</a:t>
            </a:r>
          </a:p>
          <a:p>
            <a:r>
              <a:rPr lang="en-US" dirty="0" smtClean="0"/>
              <a:t>Migration of Indian and </a:t>
            </a:r>
            <a:r>
              <a:rPr lang="en-US" dirty="0" err="1" smtClean="0"/>
              <a:t>Konkan</a:t>
            </a:r>
            <a:r>
              <a:rPr lang="en-US" dirty="0" smtClean="0"/>
              <a:t> Railways after stabilization of </a:t>
            </a:r>
            <a:r>
              <a:rPr lang="en-US" dirty="0" err="1" smtClean="0"/>
              <a:t>FoSCoS</a:t>
            </a:r>
            <a:endParaRPr lang="en-US" dirty="0" smtClean="0"/>
          </a:p>
          <a:p>
            <a:r>
              <a:rPr lang="en-US" dirty="0" smtClean="0"/>
              <a:t>Food Concerns/ Viewing of Document/Application History can still be viewed from FLRS </a:t>
            </a:r>
          </a:p>
          <a:p>
            <a:r>
              <a:rPr lang="en-US" dirty="0" smtClean="0"/>
              <a:t>Provision for submission of Online Annual Returns is expected to be available by 1</a:t>
            </a:r>
            <a:r>
              <a:rPr lang="en-US" baseline="30000" dirty="0" smtClean="0"/>
              <a:t>st</a:t>
            </a:r>
            <a:r>
              <a:rPr lang="en-US" dirty="0" smtClean="0"/>
              <a:t> April 2020.  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 out plan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71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534400" cy="4343400"/>
          </a:xfrm>
        </p:spPr>
        <p:txBody>
          <a:bodyPr>
            <a:normAutofit/>
          </a:bodyPr>
          <a:lstStyle/>
          <a:p>
            <a:r>
              <a:rPr lang="en-US" dirty="0" smtClean="0"/>
              <a:t>Applications are arranged in </a:t>
            </a:r>
            <a:r>
              <a:rPr lang="en-US" dirty="0" err="1" smtClean="0"/>
              <a:t>FoSCoS</a:t>
            </a:r>
            <a:r>
              <a:rPr lang="en-US" dirty="0" smtClean="0"/>
              <a:t> on the basis of FIFO </a:t>
            </a:r>
          </a:p>
          <a:p>
            <a:r>
              <a:rPr lang="en-US" dirty="0" smtClean="0"/>
              <a:t>Removal of Provision of Inactivating/Activating an application</a:t>
            </a:r>
          </a:p>
          <a:p>
            <a:r>
              <a:rPr lang="en-US" dirty="0" smtClean="0"/>
              <a:t>Physical Submission to be strictly prohibited</a:t>
            </a:r>
          </a:p>
          <a:p>
            <a:r>
              <a:rPr lang="en-US" dirty="0" smtClean="0"/>
              <a:t>Removal of Generate License Stage</a:t>
            </a:r>
          </a:p>
          <a:p>
            <a:r>
              <a:rPr lang="en-US" dirty="0" smtClean="0"/>
              <a:t>Mapping issue of RA – one per district</a:t>
            </a:r>
          </a:p>
          <a:p>
            <a:r>
              <a:rPr lang="en-US" dirty="0" smtClean="0"/>
              <a:t>Common Reports required on daily </a:t>
            </a:r>
            <a:r>
              <a:rPr lang="en-US" dirty="0" smtClean="0"/>
              <a:t>basis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to be </a:t>
            </a:r>
            <a:r>
              <a:rPr lang="en-US" dirty="0" smtClean="0"/>
              <a:t>discussed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110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534400" cy="42672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Training URL: </a:t>
            </a:r>
            <a:r>
              <a:rPr lang="en-US" u="sng" dirty="0">
                <a:hlinkClick r:id="rId2"/>
              </a:rPr>
              <a:t>https://fcstraining.fssai.gov.in/</a:t>
            </a:r>
            <a:endParaRPr lang="en-US" dirty="0"/>
          </a:p>
          <a:p>
            <a:r>
              <a:rPr lang="en-US" dirty="0" smtClean="0"/>
              <a:t>File </a:t>
            </a:r>
            <a:r>
              <a:rPr lang="en-US" dirty="0" smtClean="0"/>
              <a:t>Applications in your area of jurisdiction by creating user-id</a:t>
            </a:r>
          </a:p>
          <a:p>
            <a:pPr lvl="1"/>
            <a:r>
              <a:rPr lang="en-US" dirty="0" smtClean="0"/>
              <a:t>Manufacturing License application</a:t>
            </a:r>
          </a:p>
          <a:p>
            <a:pPr lvl="1"/>
            <a:r>
              <a:rPr lang="en-US" dirty="0" smtClean="0"/>
              <a:t>Other than Manufacturing License application</a:t>
            </a:r>
          </a:p>
          <a:p>
            <a:pPr lvl="1"/>
            <a:r>
              <a:rPr lang="en-US" dirty="0" smtClean="0"/>
              <a:t>Registration Application through </a:t>
            </a:r>
            <a:r>
              <a:rPr lang="en-US" dirty="0" smtClean="0"/>
              <a:t>OTP</a:t>
            </a:r>
          </a:p>
          <a:p>
            <a:pPr marL="411480" lvl="1" indent="0">
              <a:buNone/>
            </a:pPr>
            <a:endParaRPr lang="en-US" dirty="0"/>
          </a:p>
          <a:p>
            <a:r>
              <a:rPr lang="en-US" b="1" dirty="0"/>
              <a:t>Test Payment </a:t>
            </a:r>
            <a:endParaRPr lang="en-US" sz="1100" dirty="0"/>
          </a:p>
          <a:p>
            <a:pPr lvl="1"/>
            <a:r>
              <a:rPr lang="en-US" b="1" dirty="0" err="1"/>
              <a:t>RazorPay</a:t>
            </a:r>
            <a:r>
              <a:rPr lang="en-US" b="1" dirty="0"/>
              <a:t> or </a:t>
            </a:r>
            <a:r>
              <a:rPr lang="en-US" b="1" dirty="0" err="1"/>
              <a:t>PayuBiz</a:t>
            </a:r>
            <a:endParaRPr lang="en-US" sz="900" dirty="0"/>
          </a:p>
          <a:p>
            <a:pPr lvl="1"/>
            <a:r>
              <a:rPr lang="en-US" b="1" dirty="0"/>
              <a:t>Card no. 5123456789012346</a:t>
            </a:r>
            <a:endParaRPr lang="en-US" sz="900" dirty="0"/>
          </a:p>
          <a:p>
            <a:pPr lvl="1"/>
            <a:r>
              <a:rPr lang="en-US" b="1" dirty="0"/>
              <a:t>Expiry date: 05/20</a:t>
            </a:r>
            <a:endParaRPr lang="en-US" sz="900" dirty="0"/>
          </a:p>
          <a:p>
            <a:pPr lvl="1"/>
            <a:r>
              <a:rPr lang="en-US" b="1" dirty="0"/>
              <a:t>CVV: 123</a:t>
            </a:r>
            <a:endParaRPr lang="en-US" sz="900" dirty="0"/>
          </a:p>
          <a:p>
            <a:pPr marL="365760" lvl="1">
              <a:buFont typeface="Wingdings" pitchFamily="2" charset="2"/>
              <a:buChar char=""/>
            </a:pPr>
            <a:endParaRPr lang="en-US" sz="2400" dirty="0" smtClean="0"/>
          </a:p>
          <a:p>
            <a:pPr marL="365760" lvl="1">
              <a:buFont typeface="Wingdings" pitchFamily="2" charset="2"/>
              <a:buChar char=""/>
            </a:pPr>
            <a:r>
              <a:rPr lang="en-US" sz="2400" dirty="0" smtClean="0"/>
              <a:t>Process </a:t>
            </a:r>
            <a:r>
              <a:rPr lang="en-US" sz="2400" dirty="0"/>
              <a:t>the applications and Generate </a:t>
            </a:r>
            <a:r>
              <a:rPr lang="en-US" sz="2400" dirty="0" smtClean="0"/>
              <a:t>License/</a:t>
            </a:r>
            <a:r>
              <a:rPr lang="en-US" sz="2400" dirty="0" err="1" smtClean="0"/>
              <a:t>Reg</a:t>
            </a:r>
            <a:r>
              <a:rPr lang="en-US" sz="2400" dirty="0" smtClean="0"/>
              <a:t>, User ids are same as in FLRS and Passwords are admin.</a:t>
            </a:r>
            <a:endParaRPr lang="en-US" sz="2400" dirty="0"/>
          </a:p>
          <a:p>
            <a:pPr marL="341313" lvl="1" indent="-287338">
              <a:buFont typeface="Arial" pitchFamily="34" charset="0"/>
              <a:buChar char="•"/>
            </a:pPr>
            <a:endParaRPr lang="en-US" dirty="0" smtClean="0"/>
          </a:p>
          <a:p>
            <a:pPr marL="341313" lvl="1" indent="-287338">
              <a:buFont typeface="Arial" pitchFamily="34" charset="0"/>
              <a:buChar char="•"/>
            </a:pPr>
            <a:endParaRPr lang="en-US" dirty="0"/>
          </a:p>
          <a:p>
            <a:pPr marL="53975" lvl="1" indent="0">
              <a:buNone/>
            </a:pPr>
            <a:r>
              <a:rPr lang="en-US" dirty="0" smtClean="0"/>
              <a:t>Mail your feedback at </a:t>
            </a:r>
            <a:endParaRPr lang="en-US" dirty="0" smtClean="0"/>
          </a:p>
          <a:p>
            <a:pPr marL="53975" lvl="1" indent="0">
              <a:buNone/>
            </a:pPr>
            <a:r>
              <a:rPr lang="en-US" dirty="0" smtClean="0">
                <a:hlinkClick r:id="rId3"/>
              </a:rPr>
              <a:t>foscosfeedback.fssai@gmail.com</a:t>
            </a:r>
            <a:r>
              <a:rPr lang="en-US" dirty="0" smtClean="0"/>
              <a:t> and</a:t>
            </a:r>
            <a:endParaRPr lang="en-US" dirty="0" smtClean="0"/>
          </a:p>
          <a:p>
            <a:pPr marL="53975" lvl="1" indent="0">
              <a:buNone/>
            </a:pPr>
            <a:r>
              <a:rPr lang="en-US" dirty="0" smtClean="0">
                <a:hlinkClick r:id="rId4"/>
              </a:rPr>
              <a:t>foscos-helpline@fssai.gov.in</a:t>
            </a:r>
            <a:r>
              <a:rPr lang="en-US" dirty="0" smtClean="0"/>
              <a:t> 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It Yourself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413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356</TotalTime>
  <Words>786</Words>
  <Application>Microsoft Office PowerPoint</Application>
  <PresentationFormat>On-screen Show (4:3)</PresentationFormat>
  <Paragraphs>89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Hardcover</vt:lpstr>
      <vt:lpstr>Food Safety Compliance System (FoSCoS)</vt:lpstr>
      <vt:lpstr>Major Changes in  Filing of Application</vt:lpstr>
      <vt:lpstr>Login page</vt:lpstr>
      <vt:lpstr>Addition of New KoBs – under Manufacturing Group Head</vt:lpstr>
      <vt:lpstr>Selection of Standardised Products for Manufacturers</vt:lpstr>
      <vt:lpstr>Modification of License for existing Licensed FBOs under Manufacturing KoB</vt:lpstr>
      <vt:lpstr>Capturing GST, PAN and CIN number in license application. (Non-mandatory at present)</vt:lpstr>
      <vt:lpstr>KoB wise documents. Declaration based documents are converted to Tick based.</vt:lpstr>
      <vt:lpstr>Capturing FSM ID/FoSTaC Certificate number/ Head Office</vt:lpstr>
      <vt:lpstr>Major Changes in Processing of Application</vt:lpstr>
      <vt:lpstr>Dashboard reflecting pendency at different stages</vt:lpstr>
      <vt:lpstr>Search Console. Reports can also be fetched from the  tool and exported to excel.</vt:lpstr>
      <vt:lpstr>Migration Strategy</vt:lpstr>
      <vt:lpstr>Licensing based on standardized product list</vt:lpstr>
      <vt:lpstr>Roll out plan</vt:lpstr>
      <vt:lpstr>Points to be discussed</vt:lpstr>
      <vt:lpstr>Do It Yourself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Safety Compliance System (FoSCoS)</dc:title>
  <dc:creator>akki</dc:creator>
  <cp:lastModifiedBy>akki</cp:lastModifiedBy>
  <cp:revision>27</cp:revision>
  <dcterms:created xsi:type="dcterms:W3CDTF">2020-02-18T06:56:53Z</dcterms:created>
  <dcterms:modified xsi:type="dcterms:W3CDTF">2020-02-21T06:35:33Z</dcterms:modified>
</cp:coreProperties>
</file>